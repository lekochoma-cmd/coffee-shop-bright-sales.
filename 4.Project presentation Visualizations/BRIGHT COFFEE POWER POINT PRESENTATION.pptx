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Open Sans Bold" panose="020B0604020202020204" charset="0"/>
      <p:regular r:id="rId16"/>
    </p:embeddedFont>
    <p:embeddedFont>
      <p:font typeface="Canva Sans" panose="020B0604020202020204" charset="0"/>
      <p:regular r:id="rId17"/>
    </p:embeddedFont>
    <p:embeddedFont>
      <p:font typeface="Open Sans" panose="020B0604020202020204" charset="0"/>
      <p:regular r:id="rId18"/>
    </p:embeddedFont>
    <p:embeddedFont>
      <p:font typeface="Canva Sans Bold" panose="020B0604020202020204" charset="0"/>
      <p:regular r:id="rId19"/>
    </p:embeddedFont>
    <p:embeddedFont>
      <p:font typeface="Magnolia Scrip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888" b="-20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07403" y="399482"/>
            <a:ext cx="188320" cy="214443"/>
          </a:xfrm>
          <a:custGeom>
            <a:avLst/>
            <a:gdLst/>
            <a:ahLst/>
            <a:cxnLst/>
            <a:rect l="l" t="t" r="r" b="b"/>
            <a:pathLst>
              <a:path w="188320" h="214443">
                <a:moveTo>
                  <a:pt x="0" y="0"/>
                </a:moveTo>
                <a:lnTo>
                  <a:pt x="188321" y="0"/>
                </a:lnTo>
                <a:lnTo>
                  <a:pt x="188321" y="214443"/>
                </a:lnTo>
                <a:lnTo>
                  <a:pt x="0" y="2144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9108" y="116400"/>
            <a:ext cx="1874603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Presented by Nkululeko Choma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40842" y="8912200"/>
            <a:ext cx="1550956" cy="65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 us</a:t>
            </a:r>
          </a:p>
          <a:p>
            <a:pPr algn="l">
              <a:lnSpc>
                <a:spcPts val="2662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011 475 6648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2513" y="7840369"/>
            <a:ext cx="3371946" cy="172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BRIGHT WARMTH OF THE WORLD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85617" y="2748682"/>
            <a:ext cx="10955722" cy="351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38"/>
              </a:lnSpc>
            </a:pPr>
            <a:r>
              <a:rPr lang="en-US" sz="10099">
                <a:solidFill>
                  <a:srgbClr val="FFFFFF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Bright Coffee</a:t>
            </a:r>
          </a:p>
          <a:p>
            <a:pPr algn="ctr">
              <a:lnSpc>
                <a:spcPts val="14138"/>
              </a:lnSpc>
              <a:spcBef>
                <a:spcPct val="0"/>
              </a:spcBef>
            </a:pPr>
            <a:r>
              <a:rPr lang="en-US" sz="10099">
                <a:solidFill>
                  <a:srgbClr val="FFFFFF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Shop Presenation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730520" y="3278121"/>
            <a:ext cx="2318451" cy="2647001"/>
          </a:xfrm>
          <a:custGeom>
            <a:avLst/>
            <a:gdLst/>
            <a:ahLst/>
            <a:cxnLst/>
            <a:rect l="l" t="t" r="r" b="b"/>
            <a:pathLst>
              <a:path w="2318451" h="2647001">
                <a:moveTo>
                  <a:pt x="0" y="0"/>
                </a:moveTo>
                <a:lnTo>
                  <a:pt x="2318451" y="0"/>
                </a:lnTo>
                <a:lnTo>
                  <a:pt x="2318451" y="2647001"/>
                </a:lnTo>
                <a:lnTo>
                  <a:pt x="0" y="2647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185056" y="9662526"/>
            <a:ext cx="4102944" cy="399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9"/>
              </a:lnSpc>
              <a:spcBef>
                <a:spcPct val="0"/>
              </a:spcBef>
            </a:pPr>
            <a:r>
              <a:rPr lang="en-US" sz="242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www.brightcoffee.co.za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3293895" y="4988529"/>
            <a:ext cx="1783445" cy="2036179"/>
          </a:xfrm>
          <a:custGeom>
            <a:avLst/>
            <a:gdLst/>
            <a:ahLst/>
            <a:cxnLst/>
            <a:rect l="l" t="t" r="r" b="b"/>
            <a:pathLst>
              <a:path w="1783445" h="2036179">
                <a:moveTo>
                  <a:pt x="1783445" y="0"/>
                </a:moveTo>
                <a:lnTo>
                  <a:pt x="0" y="0"/>
                </a:lnTo>
                <a:lnTo>
                  <a:pt x="0" y="2036179"/>
                </a:lnTo>
                <a:lnTo>
                  <a:pt x="1783445" y="2036179"/>
                </a:lnTo>
                <a:lnTo>
                  <a:pt x="1783445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916054" y="-47625"/>
            <a:ext cx="3371946" cy="2174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Presentation for CEO  to provide insights and recommendation related to sales perfomance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07403" y="399482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5"/>
                </a:lnTo>
                <a:lnTo>
                  <a:pt x="0" y="33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909314" y="2032040"/>
            <a:ext cx="6520759" cy="332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71"/>
              </a:lnSpc>
              <a:spcBef>
                <a:spcPct val="0"/>
              </a:spcBef>
            </a:pPr>
            <a:r>
              <a:rPr lang="en-US" sz="95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Table of Content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337826" y="3587001"/>
            <a:ext cx="2681025" cy="164213"/>
          </a:xfrm>
          <a:custGeom>
            <a:avLst/>
            <a:gdLst/>
            <a:ahLst/>
            <a:cxnLst/>
            <a:rect l="l" t="t" r="r" b="b"/>
            <a:pathLst>
              <a:path w="2681025" h="164213">
                <a:moveTo>
                  <a:pt x="0" y="0"/>
                </a:moveTo>
                <a:lnTo>
                  <a:pt x="2681025" y="0"/>
                </a:lnTo>
                <a:lnTo>
                  <a:pt x="2681025" y="164213"/>
                </a:lnTo>
                <a:lnTo>
                  <a:pt x="0" y="1642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9108" y="508149"/>
            <a:ext cx="2394627" cy="25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6"/>
              </a:lnSpc>
              <a:spcBef>
                <a:spcPct val="0"/>
              </a:spcBef>
            </a:pPr>
            <a:r>
              <a:rPr lang="en-US" sz="15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98530" y="5176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6221" y="2146340"/>
            <a:ext cx="6593060" cy="365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2915" lvl="1" indent="-386457" algn="l">
              <a:lnSpc>
                <a:spcPts val="5011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Introduction</a:t>
            </a:r>
          </a:p>
          <a:p>
            <a:pPr marL="740033" lvl="1" indent="-370017" algn="l">
              <a:lnSpc>
                <a:spcPts val="4798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Systems</a:t>
            </a:r>
          </a:p>
          <a:p>
            <a:pPr marL="740033" lvl="1" indent="-370017" algn="l">
              <a:lnSpc>
                <a:spcPts val="4798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Analysis &amp; Visualization</a:t>
            </a:r>
          </a:p>
          <a:p>
            <a:pPr marL="740033" lvl="1" indent="-370017" algn="l">
              <a:lnSpc>
                <a:spcPts val="4798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Recommendation</a:t>
            </a:r>
          </a:p>
          <a:p>
            <a:pPr marL="740033" lvl="1" indent="-370017" algn="l">
              <a:lnSpc>
                <a:spcPts val="4798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Implementation </a:t>
            </a:r>
          </a:p>
          <a:p>
            <a:pPr marL="740033" lvl="1" indent="-370017" algn="l">
              <a:lnSpc>
                <a:spcPts val="4798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Q&amp;A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7517" y="-5268"/>
            <a:ext cx="18885517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en-ZA" dirty="0"/>
          </a:p>
        </p:txBody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07403" y="399482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5"/>
                </a:lnTo>
                <a:lnTo>
                  <a:pt x="0" y="33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976409" y="3431891"/>
            <a:ext cx="2681025" cy="164213"/>
          </a:xfrm>
          <a:custGeom>
            <a:avLst/>
            <a:gdLst/>
            <a:ahLst/>
            <a:cxnLst/>
            <a:rect l="l" t="t" r="r" b="b"/>
            <a:pathLst>
              <a:path w="2681025" h="164213">
                <a:moveTo>
                  <a:pt x="0" y="0"/>
                </a:moveTo>
                <a:lnTo>
                  <a:pt x="2681026" y="0"/>
                </a:lnTo>
                <a:lnTo>
                  <a:pt x="2681026" y="164213"/>
                </a:lnTo>
                <a:lnTo>
                  <a:pt x="0" y="1642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657599" y="2370102"/>
            <a:ext cx="7714578" cy="3582267"/>
          </a:xfrm>
          <a:custGeom>
            <a:avLst/>
            <a:gdLst/>
            <a:ahLst/>
            <a:cxnLst/>
            <a:rect l="l" t="t" r="r" b="b"/>
            <a:pathLst>
              <a:path w="13406927" h="5978843">
                <a:moveTo>
                  <a:pt x="0" y="0"/>
                </a:moveTo>
                <a:lnTo>
                  <a:pt x="13406927" y="0"/>
                </a:lnTo>
                <a:lnTo>
                  <a:pt x="13406927" y="5978843"/>
                </a:lnTo>
                <a:lnTo>
                  <a:pt x="0" y="5978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957" b="-395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9108" y="517674"/>
            <a:ext cx="166274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60083" y="81952"/>
            <a:ext cx="8522317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3341" lvl="1" indent="-386670" algn="l">
              <a:lnSpc>
                <a:spcPts val="5014"/>
              </a:lnSpc>
              <a:buFont typeface="Arial"/>
              <a:buChar char="•"/>
            </a:pPr>
            <a:r>
              <a:rPr lang="en-US" sz="2800" u="sng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REVENUE ACROSS 6 MONTHS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57599" y="1104900"/>
            <a:ext cx="9142687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98"/>
              </a:lnSpc>
              <a:spcBef>
                <a:spcPct val="0"/>
              </a:spcBef>
            </a:pPr>
            <a:r>
              <a:rPr lang="en-US" sz="4800" b="1" u="sng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R698 812.33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60082" y="5928124"/>
            <a:ext cx="10038079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3341" lvl="1" indent="-386670" algn="l">
              <a:lnSpc>
                <a:spcPts val="5014"/>
              </a:lnSpc>
              <a:buFont typeface="Arial"/>
              <a:buChar char="•"/>
            </a:pPr>
            <a:r>
              <a:rPr lang="en-US" sz="32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 increased by approximately </a:t>
            </a:r>
            <a:r>
              <a:rPr lang="en-US" sz="3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50% from Jan-June 2023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07403" y="399482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5"/>
                </a:lnTo>
                <a:lnTo>
                  <a:pt x="0" y="33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3888857"/>
            <a:ext cx="8773893" cy="5692448"/>
          </a:xfrm>
          <a:custGeom>
            <a:avLst/>
            <a:gdLst/>
            <a:ahLst/>
            <a:cxnLst/>
            <a:rect l="l" t="t" r="r" b="b"/>
            <a:pathLst>
              <a:path w="8773893" h="5692448">
                <a:moveTo>
                  <a:pt x="0" y="0"/>
                </a:moveTo>
                <a:lnTo>
                  <a:pt x="8773893" y="0"/>
                </a:lnTo>
                <a:lnTo>
                  <a:pt x="8773893" y="5692448"/>
                </a:lnTo>
                <a:lnTo>
                  <a:pt x="0" y="5692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9270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773893" y="3888857"/>
            <a:ext cx="8717906" cy="5675926"/>
          </a:xfrm>
          <a:custGeom>
            <a:avLst/>
            <a:gdLst/>
            <a:ahLst/>
            <a:cxnLst/>
            <a:rect l="l" t="t" r="r" b="b"/>
            <a:pathLst>
              <a:path w="8717906" h="5675926">
                <a:moveTo>
                  <a:pt x="0" y="0"/>
                </a:moveTo>
                <a:lnTo>
                  <a:pt x="8717906" y="0"/>
                </a:lnTo>
                <a:lnTo>
                  <a:pt x="8717906" y="5675926"/>
                </a:lnTo>
                <a:lnTo>
                  <a:pt x="0" y="567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129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9108" y="508149"/>
            <a:ext cx="2245751" cy="24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  <a:spcBef>
                <a:spcPct val="0"/>
              </a:spcBef>
            </a:pPr>
            <a:r>
              <a:rPr lang="en-US" sz="143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9311" y="-36525"/>
            <a:ext cx="11833987" cy="757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4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 by time of day and store location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0299" y="809765"/>
            <a:ext cx="9825646" cy="252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240" lvl="1" indent="-305120" algn="l">
              <a:lnSpc>
                <a:spcPts val="3957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Mid morning is our highest performing time of day more than 50% of sales while weekdays are slowest time</a:t>
            </a:r>
          </a:p>
          <a:p>
            <a:pPr marL="610240" lvl="1" indent="-305120" algn="l">
              <a:lnSpc>
                <a:spcPts val="3957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have also gathered that Hell’s Kitchen is our </a:t>
            </a:r>
            <a:r>
              <a:rPr lang="en-US" sz="28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highest 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performing store during this period with 33.8%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852176" y="2749639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4"/>
                </a:lnTo>
                <a:lnTo>
                  <a:pt x="0" y="332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3400" y="4853693"/>
            <a:ext cx="10977611" cy="5217200"/>
          </a:xfrm>
          <a:custGeom>
            <a:avLst/>
            <a:gdLst/>
            <a:ahLst/>
            <a:cxnLst/>
            <a:rect l="l" t="t" r="r" b="b"/>
            <a:pathLst>
              <a:path w="12096682" h="5836658">
                <a:moveTo>
                  <a:pt x="0" y="0"/>
                </a:moveTo>
                <a:lnTo>
                  <a:pt x="12096682" y="0"/>
                </a:lnTo>
                <a:lnTo>
                  <a:pt x="12096682" y="5836659"/>
                </a:lnTo>
                <a:lnTo>
                  <a:pt x="0" y="5836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603" b="-1023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2328" y="150334"/>
            <a:ext cx="2302363" cy="24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  <a:spcBef>
                <a:spcPct val="0"/>
              </a:spcBef>
            </a:pPr>
            <a:r>
              <a:rPr lang="en-US" sz="14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11011" y="9300"/>
            <a:ext cx="5448067" cy="66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Sales by product type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1188" y="541715"/>
            <a:ext cx="11832504" cy="377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91" lvl="1" indent="-377846" algn="l">
              <a:lnSpc>
                <a:spcPts val="4900"/>
              </a:lnSpc>
              <a:buFont typeface="Arial"/>
              <a:buChar char="•"/>
            </a:pPr>
            <a:r>
              <a:rPr lang="en-US" sz="3500" b="1" u="sng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below graph provides insight on our top 4 highest selling product type </a:t>
            </a:r>
            <a:r>
              <a:rPr lang="en-US" sz="3500" b="1" u="sng" dirty="0" smtClean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namely</a:t>
            </a:r>
            <a:endParaRPr lang="en-US" sz="3500" b="1" u="sng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55691" lvl="1" indent="-377846">
              <a:lnSpc>
                <a:spcPts val="4900"/>
              </a:lnSpc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Barista Expresso R91406.20</a:t>
            </a:r>
          </a:p>
          <a:p>
            <a:pPr marL="755691" lvl="1" indent="-377846">
              <a:lnSpc>
                <a:spcPts val="4900"/>
              </a:lnSpc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Brewed Chai Tea R77 081.95</a:t>
            </a:r>
          </a:p>
          <a:p>
            <a:pPr marL="755691" lvl="1" indent="-377846">
              <a:lnSpc>
                <a:spcPts val="4900"/>
              </a:lnSpc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Gourmet Brewed Coffee R 70 034.60</a:t>
            </a:r>
          </a:p>
          <a:p>
            <a:pPr marL="755691" lvl="1" indent="-377846">
              <a:lnSpc>
                <a:spcPts val="4900"/>
              </a:lnSpc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Hot Chocolate R72 416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53377" y="370571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5"/>
                </a:lnTo>
                <a:lnTo>
                  <a:pt x="0" y="33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21207" y="3777867"/>
            <a:ext cx="12281081" cy="5480433"/>
          </a:xfrm>
          <a:custGeom>
            <a:avLst/>
            <a:gdLst/>
            <a:ahLst/>
            <a:cxnLst/>
            <a:rect l="l" t="t" r="r" b="b"/>
            <a:pathLst>
              <a:path w="12281081" h="5480433">
                <a:moveTo>
                  <a:pt x="0" y="0"/>
                </a:moveTo>
                <a:lnTo>
                  <a:pt x="12281081" y="0"/>
                </a:lnTo>
                <a:lnTo>
                  <a:pt x="12281081" y="5480433"/>
                </a:lnTo>
                <a:lnTo>
                  <a:pt x="0" y="5480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39108" y="508149"/>
            <a:ext cx="2399683" cy="25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0"/>
              </a:lnSpc>
              <a:spcBef>
                <a:spcPct val="0"/>
              </a:spcBef>
            </a:pPr>
            <a:r>
              <a:rPr lang="en-US" sz="153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94074" y="303896"/>
            <a:ext cx="8367362" cy="629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 b="1" u="sng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Sales by Day Name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9108" y="1474838"/>
            <a:ext cx="12663180" cy="211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500" lvl="1" indent="-257250" algn="l">
              <a:lnSpc>
                <a:spcPts val="3336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Based on the below graph over 6 months the best performing day of the week is Mondays with 14.5% of sales </a:t>
            </a:r>
          </a:p>
          <a:p>
            <a:pPr marL="514500" lvl="1" indent="-257250" algn="l">
              <a:lnSpc>
                <a:spcPts val="3336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Saturday have been the lowest performing day of the week over 6 months with 13% of sales</a:t>
            </a:r>
          </a:p>
          <a:p>
            <a:pPr marL="514500" lvl="1" indent="-257250" algn="l">
              <a:lnSpc>
                <a:spcPts val="3336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Average total sales over 6 months is R116 468.72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07403" y="399482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5"/>
                </a:lnTo>
                <a:lnTo>
                  <a:pt x="0" y="33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00400" y="5219700"/>
            <a:ext cx="9515230" cy="4944812"/>
          </a:xfrm>
          <a:custGeom>
            <a:avLst/>
            <a:gdLst/>
            <a:ahLst/>
            <a:cxnLst/>
            <a:rect l="l" t="t" r="r" b="b"/>
            <a:pathLst>
              <a:path w="9816552" h="5220039">
                <a:moveTo>
                  <a:pt x="0" y="0"/>
                </a:moveTo>
                <a:lnTo>
                  <a:pt x="9816552" y="0"/>
                </a:lnTo>
                <a:lnTo>
                  <a:pt x="9816552" y="5220038"/>
                </a:lnTo>
                <a:lnTo>
                  <a:pt x="0" y="5220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302" b="-230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39108" y="498624"/>
            <a:ext cx="2481251" cy="275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3"/>
              </a:lnSpc>
              <a:spcBef>
                <a:spcPct val="0"/>
              </a:spcBef>
            </a:pPr>
            <a:r>
              <a:rPr lang="en-US" sz="15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62364" y="281184"/>
            <a:ext cx="8121793" cy="142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6"/>
              </a:lnSpc>
              <a:spcBef>
                <a:spcPct val="0"/>
              </a:spcBef>
            </a:pPr>
            <a:r>
              <a:rPr lang="en-US" sz="4140" u="sng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Weekend Sales Versus Weekday Sales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7403" y="1652391"/>
            <a:ext cx="15388369" cy="282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8032" lvl="1" indent="-339016" algn="l">
              <a:lnSpc>
                <a:spcPts val="4396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Based on the below chart we are able to gain information that most of the sales took place Weekdays than Weekend</a:t>
            </a:r>
          </a:p>
          <a:p>
            <a:pPr marL="678032" lvl="1" indent="-339016" algn="l">
              <a:lnSpc>
                <a:spcPts val="4396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Approximately 72.6% of sales take place on Weekdays this makes since due to the number of days in the week and Monday being our best performing days.</a:t>
            </a:r>
          </a:p>
          <a:p>
            <a:pPr marL="678032" lvl="1" indent="-339016" algn="l">
              <a:lnSpc>
                <a:spcPts val="4396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Only 27.4% being on Weekends partly due to the ration of less days </a:t>
            </a:r>
            <a:r>
              <a:rPr lang="en-US" sz="24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interval.</a:t>
            </a:r>
            <a:endParaRPr lang="en-US" sz="24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6201" y="346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763894" y="399482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5"/>
                </a:lnTo>
                <a:lnTo>
                  <a:pt x="0" y="33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972800" y="-7574"/>
            <a:ext cx="6518999" cy="5591377"/>
          </a:xfrm>
          <a:custGeom>
            <a:avLst/>
            <a:gdLst/>
            <a:ahLst/>
            <a:cxnLst/>
            <a:rect l="l" t="t" r="r" b="b"/>
            <a:pathLst>
              <a:path w="8680945" h="5591377">
                <a:moveTo>
                  <a:pt x="0" y="0"/>
                </a:moveTo>
                <a:lnTo>
                  <a:pt x="8680944" y="0"/>
                </a:lnTo>
                <a:lnTo>
                  <a:pt x="8680944" y="5591377"/>
                </a:lnTo>
                <a:lnTo>
                  <a:pt x="0" y="55913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50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39108" y="508149"/>
            <a:ext cx="2427912" cy="26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  <a:spcBef>
                <a:spcPct val="0"/>
              </a:spcBef>
            </a:pPr>
            <a:r>
              <a:rPr lang="en-US" sz="1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02005" y="-77636"/>
            <a:ext cx="5641995" cy="160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8"/>
              </a:lnSpc>
            </a:pPr>
            <a:r>
              <a:rPr lang="en-US" sz="3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</a:t>
            </a:r>
          </a:p>
          <a:p>
            <a:pPr algn="ctr">
              <a:lnSpc>
                <a:spcPts val="6458"/>
              </a:lnSpc>
              <a:spcBef>
                <a:spcPct val="0"/>
              </a:spcBef>
            </a:pPr>
            <a:endParaRPr lang="en-US" sz="4613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82134" y="1762951"/>
            <a:ext cx="9611577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1" lvl="1" indent="-342900" algn="just">
              <a:lnSpc>
                <a:spcPts val="4447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improve </a:t>
            </a:r>
            <a:r>
              <a:rPr lang="en-US" sz="28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overall 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sales for the business and </a:t>
            </a:r>
          </a:p>
          <a:p>
            <a:pPr algn="just">
              <a:lnSpc>
                <a:spcPts val="4447"/>
              </a:lnSpc>
            </a:pPr>
            <a:r>
              <a:rPr lang="en-US" sz="28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improve 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‘Bottom-line’ We recommend </a:t>
            </a:r>
            <a:r>
              <a:rPr lang="en-US" sz="28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increased 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social media present.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1352" y="3993519"/>
            <a:ext cx="9723010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1" lvl="1" indent="-342900" algn="just">
              <a:lnSpc>
                <a:spcPts val="4447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introduction of Target </a:t>
            </a:r>
            <a:r>
              <a:rPr lang="en-US" sz="24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Marketing </a:t>
            </a: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through various online platforms to enhance digital  footprint and attract new markets.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2133" y="5781205"/>
            <a:ext cx="15748859" cy="1089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2" lvl="1" indent="-345436" algn="l">
              <a:lnSpc>
                <a:spcPts val="44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Attract health </a:t>
            </a:r>
            <a:r>
              <a:rPr lang="en-US" sz="24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conscious </a:t>
            </a: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clients by promotional discount of low-</a:t>
            </a:r>
            <a:r>
              <a:rPr lang="en-US" sz="24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perfoming</a:t>
            </a: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products such as ; Chai tea , Blacl tea and Green tea to boost sales.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410" y="7128675"/>
            <a:ext cx="16795180" cy="108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2" lvl="1" indent="-345436" algn="l">
              <a:lnSpc>
                <a:spcPts val="44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Increasing staff during Mid Morning rush in order maintain excellence customer service during peak time of </a:t>
            </a:r>
            <a:r>
              <a:rPr lang="en-US" sz="24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business </a:t>
            </a: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and save for when less staff is required.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410" y="8476146"/>
            <a:ext cx="16944073" cy="1089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2" lvl="1" indent="-345436" algn="l">
              <a:lnSpc>
                <a:spcPts val="44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Focus more on promoting sales in Lower Manhattan through in store specials on products such as scone, tea and </a:t>
            </a:r>
            <a:r>
              <a:rPr lang="en-US" sz="24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sugar free </a:t>
            </a: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syrup, to </a:t>
            </a:r>
            <a:r>
              <a:rPr lang="en-US" sz="24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attract </a:t>
            </a: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more clients in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888880" y="233330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4"/>
                </a:lnTo>
                <a:lnTo>
                  <a:pt x="0" y="332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20973" y="90455"/>
            <a:ext cx="6290827" cy="4076461"/>
          </a:xfrm>
          <a:custGeom>
            <a:avLst/>
            <a:gdLst/>
            <a:ahLst/>
            <a:cxnLst/>
            <a:rect l="l" t="t" r="r" b="b"/>
            <a:pathLst>
              <a:path w="5219269" h="3233810">
                <a:moveTo>
                  <a:pt x="0" y="0"/>
                </a:moveTo>
                <a:lnTo>
                  <a:pt x="5219269" y="0"/>
                </a:lnTo>
                <a:lnTo>
                  <a:pt x="5219269" y="3233811"/>
                </a:lnTo>
                <a:lnTo>
                  <a:pt x="0" y="32338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840" r="-1808" b="-484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2987" y="185530"/>
            <a:ext cx="2075858" cy="22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0"/>
              </a:lnSpc>
              <a:spcBef>
                <a:spcPct val="0"/>
              </a:spcBef>
            </a:pPr>
            <a:r>
              <a:rPr lang="en-US" sz="132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8183" y="90455"/>
            <a:ext cx="6979929" cy="106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3600" u="sng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175" y="1652468"/>
            <a:ext cx="11349798" cy="1634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995" lvl="1" indent="-337997" algn="l">
              <a:lnSpc>
                <a:spcPts val="438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Conduct  a continuous visualization of data on Power BI in order to give real time feedback on sales and other related statistics to monitor progress.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1175" y="3442921"/>
            <a:ext cx="11349798" cy="108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995" lvl="1" indent="-337997" algn="l">
              <a:lnSpc>
                <a:spcPts val="438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Perform a “Deep Dive” data analytics on information to gain even more insights and improve revenue.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907" y="4887392"/>
            <a:ext cx="15701806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995" lvl="1" indent="-337997" algn="l">
              <a:lnSpc>
                <a:spcPts val="438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Collaborate with other stakeholder in the industry and value chain to gain more insights on clients </a:t>
            </a:r>
            <a:r>
              <a:rPr lang="en-US" sz="24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behavior </a:t>
            </a: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and implement best practice to improve revenue.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907" y="6465213"/>
            <a:ext cx="15701806" cy="106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995" lvl="1" indent="-337997" algn="l">
              <a:lnSpc>
                <a:spcPts val="438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staff training especially in locations not performing, to improve customer experience and also encourage clients who visit stores to rate service through a digital dashboard.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5907" y="8252584"/>
            <a:ext cx="15701806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995" lvl="1" indent="-337997" algn="l">
              <a:lnSpc>
                <a:spcPts val="438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Perform an analysis on the cost and benefit of introducing a Delivery Service platform in order to attract new clients who otherwise </a:t>
            </a:r>
            <a:r>
              <a:rPr lang="en-US" sz="2400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don't </a:t>
            </a: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prefer visiting our stores</a:t>
            </a:r>
            <a:r>
              <a:rPr lang="en-US" sz="313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843750"/>
            <a:ext cx="18288000" cy="111307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F55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07403" y="399482"/>
            <a:ext cx="291824" cy="332305"/>
          </a:xfrm>
          <a:custGeom>
            <a:avLst/>
            <a:gdLst/>
            <a:ahLst/>
            <a:cxnLst/>
            <a:rect l="l" t="t" r="r" b="b"/>
            <a:pathLst>
              <a:path w="291824" h="332305">
                <a:moveTo>
                  <a:pt x="0" y="0"/>
                </a:moveTo>
                <a:lnTo>
                  <a:pt x="291824" y="0"/>
                </a:lnTo>
                <a:lnTo>
                  <a:pt x="291824" y="332305"/>
                </a:lnTo>
                <a:lnTo>
                  <a:pt x="0" y="33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9108" y="-771472"/>
            <a:ext cx="13454135" cy="4980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15"/>
              </a:lnSpc>
            </a:pPr>
            <a:r>
              <a:rPr lang="en-US" sz="4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Q&amp;A</a:t>
            </a:r>
          </a:p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</p:txBody>
      </p:sp>
      <p:sp>
        <p:nvSpPr>
          <p:cNvPr id="11" name="Freeform 11"/>
          <p:cNvSpPr/>
          <p:nvPr/>
        </p:nvSpPr>
        <p:spPr>
          <a:xfrm>
            <a:off x="6791016" y="9687863"/>
            <a:ext cx="2681025" cy="164213"/>
          </a:xfrm>
          <a:custGeom>
            <a:avLst/>
            <a:gdLst/>
            <a:ahLst/>
            <a:cxnLst/>
            <a:rect l="l" t="t" r="r" b="b"/>
            <a:pathLst>
              <a:path w="2681025" h="164213">
                <a:moveTo>
                  <a:pt x="0" y="0"/>
                </a:moveTo>
                <a:lnTo>
                  <a:pt x="2681025" y="0"/>
                </a:lnTo>
                <a:lnTo>
                  <a:pt x="2681025" y="164213"/>
                </a:lnTo>
                <a:lnTo>
                  <a:pt x="0" y="1642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181742" y="2908986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39108" y="508149"/>
            <a:ext cx="2326871" cy="25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"/>
              </a:lnSpc>
              <a:spcBef>
                <a:spcPct val="0"/>
              </a:spcBef>
            </a:pPr>
            <a:r>
              <a:rPr lang="en-US" sz="148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Bright group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88991" y="8859693"/>
            <a:ext cx="8555897" cy="157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</a:pPr>
            <a:r>
              <a:rPr lang="en-US" sz="45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  <a:p>
            <a:pPr algn="ctr">
              <a:lnSpc>
                <a:spcPts val="6355"/>
              </a:lnSpc>
              <a:spcBef>
                <a:spcPct val="0"/>
              </a:spcBef>
            </a:pPr>
            <a:r>
              <a:rPr lang="en-US" sz="45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544</Words>
  <Application>Microsoft Office PowerPoint</Application>
  <PresentationFormat>Custom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Open Sans Bold</vt:lpstr>
      <vt:lpstr>Arial</vt:lpstr>
      <vt:lpstr>Canva Sans</vt:lpstr>
      <vt:lpstr>Open Sans</vt:lpstr>
      <vt:lpstr>Canva Sans Bold</vt:lpstr>
      <vt:lpstr>Magnolia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</dc:title>
  <dc:creator>Sanlam3</dc:creator>
  <cp:lastModifiedBy>Sanlam3</cp:lastModifiedBy>
  <cp:revision>14</cp:revision>
  <dcterms:created xsi:type="dcterms:W3CDTF">2006-08-16T00:00:00Z</dcterms:created>
  <dcterms:modified xsi:type="dcterms:W3CDTF">2026-10-11T07:49:56Z</dcterms:modified>
  <dc:identifier>DAHFaIwmd6s</dc:identifier>
</cp:coreProperties>
</file>